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A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286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724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92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1393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29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82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63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3099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29573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855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397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6968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7890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916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77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DA38F49-B3E2-4BF0-BEC7-C30D34ABBB8D}" type="datetime1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904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EF08599-3FED-4288-A20D-E7BCAC3B8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9D5F717-B7D9-FB5F-41C0-0DA5BD9730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09" r="9091" b="2900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0" name="Freeform 13">
            <a:extLst>
              <a:ext uri="{FF2B5EF4-FFF2-40B4-BE49-F238E27FC236}">
                <a16:creationId xmlns:a16="http://schemas.microsoft.com/office/drawing/2014/main" id="{C884A6B2-90E9-4BDB-8503-71AC02D39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6933" y="-16933"/>
            <a:ext cx="7340600" cy="6883400"/>
          </a:xfrm>
          <a:custGeom>
            <a:avLst/>
            <a:gdLst>
              <a:gd name="connsiteX0" fmla="*/ 5427133 w 7340600"/>
              <a:gd name="connsiteY0" fmla="*/ 8466 h 6883400"/>
              <a:gd name="connsiteX1" fmla="*/ 4783666 w 7340600"/>
              <a:gd name="connsiteY1" fmla="*/ 2573866 h 6883400"/>
              <a:gd name="connsiteX2" fmla="*/ 7340600 w 7340600"/>
              <a:gd name="connsiteY2" fmla="*/ 6874933 h 6883400"/>
              <a:gd name="connsiteX3" fmla="*/ 0 w 7340600"/>
              <a:gd name="connsiteY3" fmla="*/ 6883400 h 6883400"/>
              <a:gd name="connsiteX4" fmla="*/ 8466 w 7340600"/>
              <a:gd name="connsiteY4" fmla="*/ 0 h 6883400"/>
              <a:gd name="connsiteX5" fmla="*/ 5427133 w 7340600"/>
              <a:gd name="connsiteY5" fmla="*/ 8466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40600" h="6883400">
                <a:moveTo>
                  <a:pt x="5427133" y="8466"/>
                </a:moveTo>
                <a:lnTo>
                  <a:pt x="4783666" y="2573866"/>
                </a:lnTo>
                <a:lnTo>
                  <a:pt x="7340600" y="6874933"/>
                </a:lnTo>
                <a:lnTo>
                  <a:pt x="0" y="6883400"/>
                </a:lnTo>
                <a:lnTo>
                  <a:pt x="8466" y="0"/>
                </a:lnTo>
                <a:lnTo>
                  <a:pt x="5427133" y="8466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2C595-4190-DE50-DA10-6E0A4D1A8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34067"/>
            <a:ext cx="4080932" cy="33104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IN" sz="5000" dirty="0">
                <a:solidFill>
                  <a:schemeClr val="bg1"/>
                </a:solidFill>
              </a:rPr>
              <a:t>SURAKSHA CYBER HACKATHON-2026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1A20B7-DC78-F696-FFF5-5BB9768EA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5053781"/>
            <a:ext cx="4918587" cy="1140542"/>
          </a:xfrm>
        </p:spPr>
        <p:txBody>
          <a:bodyPr>
            <a:noAutofit/>
          </a:bodyPr>
          <a:lstStyle/>
          <a:p>
            <a:pPr algn="l"/>
            <a:r>
              <a:rPr lang="en-IN" sz="2000" dirty="0">
                <a:solidFill>
                  <a:schemeClr val="bg1"/>
                </a:solidFill>
              </a:rPr>
              <a:t>Title:-        Reg Twin AI</a:t>
            </a:r>
          </a:p>
          <a:p>
            <a:pPr algn="l"/>
            <a:r>
              <a:rPr lang="en-IN" sz="2000" dirty="0">
                <a:solidFill>
                  <a:schemeClr val="bg1"/>
                </a:solidFill>
              </a:rPr>
              <a:t>Theme-</a:t>
            </a:r>
            <a:r>
              <a:rPr lang="en-IN" sz="2000" b="1" dirty="0"/>
              <a:t> </a:t>
            </a:r>
            <a:r>
              <a:rPr lang="en-IN" sz="2000" dirty="0">
                <a:solidFill>
                  <a:schemeClr val="bg1"/>
                </a:solidFill>
              </a:rPr>
              <a:t>Agentic Regulatory Intelligence &amp; Compliance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9046BC8-D404-4E7D-9202-A07F3FDD3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64100" y="-4763"/>
            <a:ext cx="5014912" cy="6862763"/>
            <a:chOff x="2928938" y="-4763"/>
            <a:chExt cx="5014912" cy="6862763"/>
          </a:xfrm>
        </p:grpSpPr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4C202215-4C35-450D-9F60-671C8F8DEB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5" name="Freeform 7">
              <a:extLst>
                <a:ext uri="{FF2B5EF4-FFF2-40B4-BE49-F238E27FC236}">
                  <a16:creationId xmlns:a16="http://schemas.microsoft.com/office/drawing/2014/main" id="{F1A5BA8A-AEB4-4BCB-B86C-3F6A8E229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46" name="Freeform 9">
              <a:extLst>
                <a:ext uri="{FF2B5EF4-FFF2-40B4-BE49-F238E27FC236}">
                  <a16:creationId xmlns:a16="http://schemas.microsoft.com/office/drawing/2014/main" id="{28AC2443-05F0-41CD-8D4A-63DE144F8B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47" name="Freeform 10">
              <a:extLst>
                <a:ext uri="{FF2B5EF4-FFF2-40B4-BE49-F238E27FC236}">
                  <a16:creationId xmlns:a16="http://schemas.microsoft.com/office/drawing/2014/main" id="{33E32F17-ED99-4969-B4D6-10A987D73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5599A813-8424-4E53-95CA-85BF5470D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49" name="Freeform 12">
              <a:extLst>
                <a:ext uri="{FF2B5EF4-FFF2-40B4-BE49-F238E27FC236}">
                  <a16:creationId xmlns:a16="http://schemas.microsoft.com/office/drawing/2014/main" id="{52431A4F-4662-480B-8AD3-394EACD7E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E64C539-86C4-BC85-1C1C-5E68E97DAB13}"/>
              </a:ext>
            </a:extLst>
          </p:cNvPr>
          <p:cNvSpPr txBox="1"/>
          <p:nvPr/>
        </p:nvSpPr>
        <p:spPr>
          <a:xfrm>
            <a:off x="7340600" y="2393404"/>
            <a:ext cx="39427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/>
              <a:t>CANARA BANK</a:t>
            </a:r>
          </a:p>
        </p:txBody>
      </p:sp>
    </p:spTree>
    <p:extLst>
      <p:ext uri="{BB962C8B-B14F-4D97-AF65-F5344CB8AC3E}">
        <p14:creationId xmlns:p14="http://schemas.microsoft.com/office/powerpoint/2010/main" val="176149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9EE319-8067-94C9-F4A2-791DD2BF1C63}"/>
              </a:ext>
            </a:extLst>
          </p:cNvPr>
          <p:cNvSpPr/>
          <p:nvPr/>
        </p:nvSpPr>
        <p:spPr>
          <a:xfrm>
            <a:off x="6587613" y="353961"/>
            <a:ext cx="4817805" cy="312665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600" b="1" dirty="0"/>
              <a:t>        Our Solution</a:t>
            </a:r>
          </a:p>
          <a:p>
            <a:r>
              <a:rPr lang="en-IN" dirty="0"/>
              <a:t>Reg Twin AI automates this process by using Artificial Intelligence to:</a:t>
            </a:r>
          </a:p>
          <a:p>
            <a:r>
              <a:rPr lang="en-IN" dirty="0"/>
              <a:t>Analyse regulatory documents </a:t>
            </a:r>
          </a:p>
          <a:p>
            <a:r>
              <a:rPr lang="en-IN" dirty="0"/>
              <a:t>Generate concise summaries </a:t>
            </a:r>
          </a:p>
          <a:p>
            <a:r>
              <a:rPr lang="en-IN" dirty="0"/>
              <a:t>Create Measurable Action Points (MAPs) </a:t>
            </a:r>
          </a:p>
          <a:p>
            <a:r>
              <a:rPr lang="en-IN" dirty="0"/>
              <a:t>Assign responsibilities to the relevant departments </a:t>
            </a:r>
          </a:p>
          <a:p>
            <a:r>
              <a:rPr lang="en-IN" dirty="0"/>
              <a:t>Provide a centralized compliance dashboard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3EC015-B4C1-2911-0480-FE2313B84F21}"/>
              </a:ext>
            </a:extLst>
          </p:cNvPr>
          <p:cNvSpPr/>
          <p:nvPr/>
        </p:nvSpPr>
        <p:spPr>
          <a:xfrm>
            <a:off x="1779639" y="530941"/>
            <a:ext cx="4031226" cy="29496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/>
              <a:t>Problem Statement</a:t>
            </a:r>
          </a:p>
          <a:p>
            <a:pPr algn="ctr"/>
            <a:endParaRPr lang="en-IN" sz="3200" dirty="0"/>
          </a:p>
          <a:p>
            <a:r>
              <a:rPr lang="en-IN" dirty="0"/>
              <a:t>Banks receive </a:t>
            </a:r>
            <a:r>
              <a:rPr lang="en-IN" b="1" dirty="0"/>
              <a:t>hundreds of RBI/SEBI/FEMA circulars</a:t>
            </a:r>
            <a:r>
              <a:rPr lang="en-IN" dirty="0"/>
              <a:t> every year. Compliance teams spend hours manually reading documents, identifying action points, and assigning them to departments.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DD2B826-362B-85D9-CDA6-01872A07362F}"/>
              </a:ext>
            </a:extLst>
          </p:cNvPr>
          <p:cNvSpPr/>
          <p:nvPr/>
        </p:nvSpPr>
        <p:spPr>
          <a:xfrm>
            <a:off x="4336027" y="3864077"/>
            <a:ext cx="4149211" cy="27186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3200" b="1" dirty="0"/>
              <a:t>Technologies Used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Frontend</a:t>
            </a:r>
            <a:r>
              <a:rPr lang="en-IN" b="1" dirty="0"/>
              <a:t>:</a:t>
            </a:r>
            <a:r>
              <a:rPr lang="en-IN" dirty="0"/>
              <a:t> React.js, Material UI 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Backend</a:t>
            </a:r>
            <a:r>
              <a:rPr lang="en-IN" b="1" dirty="0"/>
              <a:t>:</a:t>
            </a:r>
            <a:r>
              <a:rPr lang="en-IN" dirty="0"/>
              <a:t> Fast API (Python) 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Database</a:t>
            </a:r>
            <a:r>
              <a:rPr lang="en-IN" b="1" dirty="0"/>
              <a:t>:</a:t>
            </a:r>
            <a:r>
              <a:rPr lang="en-IN" dirty="0"/>
              <a:t> PostgreSQL with SQL Alchemy 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 Engine</a:t>
            </a:r>
            <a:r>
              <a:rPr lang="en-IN" b="1" dirty="0"/>
              <a:t>:</a:t>
            </a:r>
            <a:r>
              <a:rPr lang="en-IN" dirty="0"/>
              <a:t> LLM for document understanding </a:t>
            </a: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PDF Processing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 err="1"/>
              <a:t>PyMu</a:t>
            </a:r>
            <a:r>
              <a:rPr lang="en-IN" dirty="0"/>
              <a:t> PDF</a:t>
            </a:r>
          </a:p>
        </p:txBody>
      </p:sp>
    </p:spTree>
    <p:extLst>
      <p:ext uri="{BB962C8B-B14F-4D97-AF65-F5344CB8AC3E}">
        <p14:creationId xmlns:p14="http://schemas.microsoft.com/office/powerpoint/2010/main" val="344695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C2EAC6F4-CC14-4018-8EB7-80E98A207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0B54FFC-1F45-4851-B17E-27AA9F2AA7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1D2D494-2435-4150-B9D3-974CD924E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919E1BB-9B82-4C97-919D-92ED3FFE66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6F8ACC16-1243-4719-B21E-C286C1026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453E1702-AF03-4993-9127-D048E9314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B0A6365B-1292-4142-BA51-04BCB3D4C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2F69AB2-EB85-C607-15F6-8983202AF3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4" r="1" b="8540"/>
          <a:stretch>
            <a:fillRect/>
          </a:stretch>
        </p:blipFill>
        <p:spPr>
          <a:xfrm>
            <a:off x="796065" y="10"/>
            <a:ext cx="11395934" cy="6857990"/>
          </a:xfrm>
          <a:custGeom>
            <a:avLst/>
            <a:gdLst/>
            <a:ahLst/>
            <a:cxnLst/>
            <a:rect l="l" t="t" r="r" b="b"/>
            <a:pathLst>
              <a:path w="11395934" h="6858000">
                <a:moveTo>
                  <a:pt x="867942" y="0"/>
                </a:moveTo>
                <a:lnTo>
                  <a:pt x="1786638" y="0"/>
                </a:lnTo>
                <a:lnTo>
                  <a:pt x="11395934" y="0"/>
                </a:lnTo>
                <a:lnTo>
                  <a:pt x="11395934" y="6858000"/>
                </a:lnTo>
                <a:lnTo>
                  <a:pt x="1925619" y="6858000"/>
                </a:lnTo>
                <a:lnTo>
                  <a:pt x="1924311" y="6820097"/>
                </a:lnTo>
                <a:lnTo>
                  <a:pt x="1925076" y="6858000"/>
                </a:lnTo>
                <a:lnTo>
                  <a:pt x="1892647" y="6858000"/>
                </a:lnTo>
                <a:lnTo>
                  <a:pt x="0" y="5314276"/>
                </a:lnTo>
                <a:cubicBezTo>
                  <a:pt x="282142" y="3542851"/>
                  <a:pt x="585800" y="1771425"/>
                  <a:pt x="86794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6737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030D2-5D0A-8D8F-EB88-14ECDAC1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645" y="0"/>
            <a:ext cx="9782379" cy="1327355"/>
          </a:xfrm>
        </p:spPr>
        <p:txBody>
          <a:bodyPr/>
          <a:lstStyle/>
          <a:p>
            <a:r>
              <a:rPr lang="en-IN" dirty="0"/>
              <a:t>Real-World Banking Use Case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A5A772-E641-62DD-F7AB-BBAD55B49B62}"/>
              </a:ext>
            </a:extLst>
          </p:cNvPr>
          <p:cNvSpPr/>
          <p:nvPr/>
        </p:nvSpPr>
        <p:spPr>
          <a:xfrm>
            <a:off x="1474480" y="1017639"/>
            <a:ext cx="3736258" cy="30037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Existing Process</a:t>
            </a:r>
          </a:p>
          <a:p>
            <a:r>
              <a:rPr lang="en-IN" dirty="0"/>
              <a:t>Compliance officers manually review lengthy regulatory documents. </a:t>
            </a:r>
          </a:p>
          <a:p>
            <a:r>
              <a:rPr lang="en-IN" dirty="0"/>
              <a:t>Action points are extracted manually. </a:t>
            </a:r>
          </a:p>
          <a:p>
            <a:r>
              <a:rPr lang="en-IN" dirty="0"/>
              <a:t>Departments are informed through emails and spreadsheets. </a:t>
            </a:r>
          </a:p>
          <a:p>
            <a:r>
              <a:rPr lang="en-IN" dirty="0"/>
              <a:t>Tracking compliance status is difficult and time-consuming.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8BAC838-6BCA-F121-BAFE-88875938C77A}"/>
              </a:ext>
            </a:extLst>
          </p:cNvPr>
          <p:cNvSpPr/>
          <p:nvPr/>
        </p:nvSpPr>
        <p:spPr>
          <a:xfrm>
            <a:off x="5545394" y="2310581"/>
            <a:ext cx="983225" cy="2851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458D17-7D92-EB11-45AB-AE67263E772C}"/>
              </a:ext>
            </a:extLst>
          </p:cNvPr>
          <p:cNvSpPr/>
          <p:nvPr/>
        </p:nvSpPr>
        <p:spPr>
          <a:xfrm>
            <a:off x="6754761" y="1179871"/>
            <a:ext cx="3647768" cy="2723535"/>
          </a:xfrm>
          <a:prstGeom prst="roundRect">
            <a:avLst/>
          </a:prstGeom>
          <a:solidFill>
            <a:srgbClr val="00AA4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Using Reg Twin AI</a:t>
            </a:r>
          </a:p>
          <a:p>
            <a:r>
              <a:rPr lang="en-IN" dirty="0"/>
              <a:t>Upload the regulatory PDF. </a:t>
            </a:r>
          </a:p>
          <a:p>
            <a:r>
              <a:rPr lang="en-IN" dirty="0"/>
              <a:t>AI analyses the content instantly. </a:t>
            </a:r>
          </a:p>
          <a:p>
            <a:r>
              <a:rPr lang="en-IN" dirty="0"/>
              <a:t>Generates summaries and MAPs automatically. </a:t>
            </a:r>
          </a:p>
          <a:p>
            <a:r>
              <a:rPr lang="en-IN" dirty="0"/>
              <a:t>Assigns the appropriate department. </a:t>
            </a:r>
          </a:p>
          <a:p>
            <a:r>
              <a:rPr lang="en-IN" dirty="0"/>
              <a:t>Displays the compliance status on a centralized dashboard.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F5057F2-BDEB-70B9-5675-856DD6503D52}"/>
              </a:ext>
            </a:extLst>
          </p:cNvPr>
          <p:cNvSpPr/>
          <p:nvPr/>
        </p:nvSpPr>
        <p:spPr>
          <a:xfrm>
            <a:off x="8603226" y="4021395"/>
            <a:ext cx="235974" cy="6784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A3F867-0FDA-EE76-CAAF-3EBCEB441B92}"/>
              </a:ext>
            </a:extLst>
          </p:cNvPr>
          <p:cNvSpPr/>
          <p:nvPr/>
        </p:nvSpPr>
        <p:spPr>
          <a:xfrm>
            <a:off x="4768644" y="4493342"/>
            <a:ext cx="3736257" cy="216309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/>
              <a:t>              Benefits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Faster regulatory processing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Reduced manual effort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Improved compliance accuracy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Better visibility and accountability</a:t>
            </a:r>
          </a:p>
        </p:txBody>
      </p:sp>
    </p:spTree>
    <p:extLst>
      <p:ext uri="{BB962C8B-B14F-4D97-AF65-F5344CB8AC3E}">
        <p14:creationId xmlns:p14="http://schemas.microsoft.com/office/powerpoint/2010/main" val="2875239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FE885-9E3C-A1E4-C370-AE80DD5C2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8632" y="157317"/>
            <a:ext cx="9664392" cy="1130710"/>
          </a:xfrm>
        </p:spPr>
        <p:txBody>
          <a:bodyPr/>
          <a:lstStyle/>
          <a:p>
            <a:r>
              <a:rPr lang="en-IN" dirty="0"/>
              <a:t> Unique Selling Proposition (USP)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74B714-315A-A738-4240-F8AD840A7C67}"/>
              </a:ext>
            </a:extLst>
          </p:cNvPr>
          <p:cNvSpPr txBox="1"/>
          <p:nvPr/>
        </p:nvSpPr>
        <p:spPr>
          <a:xfrm>
            <a:off x="1317523" y="1169301"/>
            <a:ext cx="486696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What Makes Reg Twin AI Different?</a:t>
            </a:r>
          </a:p>
          <a:p>
            <a:pPr>
              <a:buNone/>
            </a:pPr>
            <a:r>
              <a:rPr lang="en-IN" b="1" dirty="0"/>
              <a:t>AI-Driven Compliance Intelligence</a:t>
            </a:r>
          </a:p>
          <a:p>
            <a:pPr>
              <a:buNone/>
            </a:pPr>
            <a:r>
              <a:rPr lang="en-IN" dirty="0"/>
              <a:t>Understands the context of regulatory documents instead of simply extracting text.</a:t>
            </a:r>
          </a:p>
          <a:p>
            <a:pPr>
              <a:buNone/>
            </a:pPr>
            <a:r>
              <a:rPr lang="en-IN" b="1" dirty="0"/>
              <a:t>Measurable Action Point (MAP) Engine</a:t>
            </a:r>
          </a:p>
          <a:p>
            <a:pPr>
              <a:buNone/>
            </a:pPr>
            <a:r>
              <a:rPr lang="en-IN" dirty="0"/>
              <a:t>Converts regulations into clear, actionable compliance tasks that teams can execute.</a:t>
            </a:r>
          </a:p>
          <a:p>
            <a:pPr>
              <a:buNone/>
            </a:pPr>
            <a:r>
              <a:rPr lang="en-IN" b="1" dirty="0"/>
              <a:t>Intelligent Department Assignment</a:t>
            </a:r>
          </a:p>
          <a:p>
            <a:pPr>
              <a:buNone/>
            </a:pPr>
            <a:r>
              <a:rPr lang="en-IN" dirty="0"/>
              <a:t>Uses banking-specific keywords to recommend the most appropriate department for each action point.</a:t>
            </a:r>
          </a:p>
          <a:p>
            <a:pPr>
              <a:buNone/>
            </a:pPr>
            <a:r>
              <a:rPr lang="en-IN" b="1" dirty="0"/>
              <a:t>Centralized Compliance Dashboard</a:t>
            </a:r>
          </a:p>
          <a:p>
            <a:pPr>
              <a:buNone/>
            </a:pPr>
            <a:r>
              <a:rPr lang="en-IN" dirty="0"/>
              <a:t>Provides real-time visibility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Processed circulars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Risk and priority levels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Pending action points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Department assignments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1D3073-088C-8878-E10D-05A763104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490" y="1478954"/>
            <a:ext cx="5722450" cy="418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64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6517-FEDB-7C76-1774-4769A16E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0645" y="88490"/>
            <a:ext cx="9782379" cy="1081549"/>
          </a:xfrm>
        </p:spPr>
        <p:txBody>
          <a:bodyPr/>
          <a:lstStyle/>
          <a:p>
            <a:r>
              <a:rPr lang="en-IN" dirty="0"/>
              <a:t>Impact, Scalability &amp; Future Scope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D05543-5CED-14A4-97F0-93B26260C135}"/>
              </a:ext>
            </a:extLst>
          </p:cNvPr>
          <p:cNvSpPr/>
          <p:nvPr/>
        </p:nvSpPr>
        <p:spPr>
          <a:xfrm>
            <a:off x="1720645" y="1288026"/>
            <a:ext cx="3726426" cy="32741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          </a:t>
            </a:r>
            <a:r>
              <a:rPr lang="en-IN" sz="2400" b="1" dirty="0"/>
              <a:t>Business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Reduces manual compliance effort by over </a:t>
            </a:r>
            <a:r>
              <a:rPr lang="en-IN" b="1" dirty="0"/>
              <a:t>90%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Accelerates regulatory response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Minimizes operational and compliance risk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accountability through MAP tracking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Enhances decision-making with AI-driven insights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B127D8A-15AB-E268-E9D6-A4609825B60D}"/>
              </a:ext>
            </a:extLst>
          </p:cNvPr>
          <p:cNvSpPr/>
          <p:nvPr/>
        </p:nvSpPr>
        <p:spPr>
          <a:xfrm>
            <a:off x="6548283" y="1366684"/>
            <a:ext cx="3923071" cy="31954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      </a:t>
            </a:r>
            <a:r>
              <a:rPr lang="en-IN" sz="2400" b="1" dirty="0"/>
              <a:t>Future Enhancements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Integration with Core Banking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Email and Microsoft Teams notifications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Multilingual regulatory document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Approval workflows for compliance teams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Cloud deployment for enterprise scalability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853AA-E59C-07B9-5775-5563D3DBFE7C}"/>
              </a:ext>
            </a:extLst>
          </p:cNvPr>
          <p:cNvSpPr txBox="1"/>
          <p:nvPr/>
        </p:nvSpPr>
        <p:spPr>
          <a:xfrm rot="10800000" flipV="1">
            <a:off x="4050889" y="4837469"/>
            <a:ext cx="51914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                       Why Reg Twin AI?</a:t>
            </a:r>
          </a:p>
          <a:p>
            <a:pPr>
              <a:buNone/>
            </a:pPr>
            <a:r>
              <a:rPr lang="en-IN" b="1" dirty="0"/>
              <a:t>Reg Twin AI goes beyond document analysis. It transforms complex regulatory circulars into actionable business tasks, assigns ownership, and helps banks respond to regulatory changes faster, smarter, and more efficiently.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574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C616B3DC-C165-433D-9187-62DCC0E31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97E1BF84-9824-4B0E-98DF-F0F7181DD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8" name="Freeform 7">
              <a:extLst>
                <a:ext uri="{FF2B5EF4-FFF2-40B4-BE49-F238E27FC236}">
                  <a16:creationId xmlns:a16="http://schemas.microsoft.com/office/drawing/2014/main" id="{A85FA340-7392-4303-9707-A12F45A46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758A9051-2BD9-4868-8B84-344752FA2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58264C49-3539-4CBD-8F11-1106C8B87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DE862133-5C7E-4B32-9786-0B33BC51A7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0" name="Freeform 12">
              <a:extLst>
                <a:ext uri="{FF2B5EF4-FFF2-40B4-BE49-F238E27FC236}">
                  <a16:creationId xmlns:a16="http://schemas.microsoft.com/office/drawing/2014/main" id="{90925F6C-DF03-4707-9176-6049F049B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019EF9A-6172-0A45-13E8-016E4F40F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647" y="646113"/>
            <a:ext cx="4853441" cy="278288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6000" dirty="0"/>
              <a:t>       </a:t>
            </a: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Thank You!</a:t>
            </a:r>
            <a:br>
              <a:rPr lang="en-US" sz="6000" dirty="0"/>
            </a:br>
            <a:br>
              <a:rPr lang="en-US" sz="6000" dirty="0"/>
            </a:br>
            <a:endParaRPr lang="en-US" sz="6000" dirty="0"/>
          </a:p>
        </p:txBody>
      </p:sp>
      <p:sp>
        <p:nvSpPr>
          <p:cNvPr id="34" name="Rounded Rectangle 4">
            <a:extLst>
              <a:ext uri="{FF2B5EF4-FFF2-40B4-BE49-F238E27FC236}">
                <a16:creationId xmlns:a16="http://schemas.microsoft.com/office/drawing/2014/main" id="{260615AE-7DBC-4FF7-9107-9FE957695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2944" y="648931"/>
            <a:ext cx="3982086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Graphic 22" descr="Handshake">
            <a:extLst>
              <a:ext uri="{FF2B5EF4-FFF2-40B4-BE49-F238E27FC236}">
                <a16:creationId xmlns:a16="http://schemas.microsoft.com/office/drawing/2014/main" id="{A8BE3C97-2F37-4251-5E07-EE3C54A3F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3801" y="1614524"/>
            <a:ext cx="3341190" cy="33411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7566E3-FAFF-E847-E5A6-2E353339D246}"/>
              </a:ext>
            </a:extLst>
          </p:cNvPr>
          <p:cNvSpPr txBox="1"/>
          <p:nvPr/>
        </p:nvSpPr>
        <p:spPr>
          <a:xfrm>
            <a:off x="3570859" y="3429000"/>
            <a:ext cx="3982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By:-</a:t>
            </a:r>
          </a:p>
          <a:p>
            <a:r>
              <a:rPr lang="en-IN" sz="36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Cyber Sentinels</a:t>
            </a:r>
          </a:p>
        </p:txBody>
      </p:sp>
    </p:spTree>
    <p:extLst>
      <p:ext uri="{BB962C8B-B14F-4D97-AF65-F5344CB8AC3E}">
        <p14:creationId xmlns:p14="http://schemas.microsoft.com/office/powerpoint/2010/main" val="237360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40</TotalTime>
  <Words>425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SURAKSHA CYBER HACKATHON-2026</vt:lpstr>
      <vt:lpstr>PowerPoint Presentation</vt:lpstr>
      <vt:lpstr>PowerPoint Presentation</vt:lpstr>
      <vt:lpstr>Real-World Banking Use Case</vt:lpstr>
      <vt:lpstr> Unique Selling Proposition (USP)</vt:lpstr>
      <vt:lpstr>Impact, Scalability &amp; Future Scope</vt:lpstr>
      <vt:lpstr>                     Thank You!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jeeva nandham</dc:creator>
  <cp:lastModifiedBy>jeeva nandham</cp:lastModifiedBy>
  <cp:revision>1</cp:revision>
  <dcterms:created xsi:type="dcterms:W3CDTF">2026-06-30T16:08:01Z</dcterms:created>
  <dcterms:modified xsi:type="dcterms:W3CDTF">2026-06-30T16:48:39Z</dcterms:modified>
</cp:coreProperties>
</file>